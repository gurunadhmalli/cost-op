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efinery_clean_str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0"/>
            <a:ext cx="2331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59975" y="0"/>
            <a:ext cx="2331720" cy="6858000"/>
          </a:xfrm>
          <a:prstGeom prst="rect">
            <a:avLst/>
          </a:prstGeom>
          <a:solidFill>
            <a:srgbClr val="04264F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037015" y="0"/>
            <a:ext cx="822960" cy="6858000"/>
          </a:xfrm>
          <a:prstGeom prst="rect">
            <a:avLst/>
          </a:prstGeom>
          <a:solidFill>
            <a:srgbClr val="04264F">
              <a:alpha val="8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384048"/>
            <a:ext cx="3246120" cy="402336"/>
          </a:xfrm>
          <a:prstGeom prst="roundRect">
            <a:avLst>
              <a:gd name="adj" fmla="val 18182"/>
            </a:avLst>
          </a:prstGeom>
          <a:solidFill>
            <a:srgbClr val="0B3A6B"/>
          </a:solidFill>
          <a:ln w="12700">
            <a:solidFill>
              <a:srgbClr val="16A1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86200" y="3840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</a:t>
            </a:r>
            <a:endParaRPr lang="en-US" sz="1300" dirty="0"/>
          </a:p>
        </p:txBody>
      </p:sp>
      <p:pic>
        <p:nvPicPr>
          <p:cNvPr id="8" name="Image 1" descr="assets/logo_icon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70432" cy="9784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1298448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pPr indent="0" marL="0">
              <a:buNone/>
            </a:pPr>
            <a:r>
              <a:rPr lang="en-US" sz="46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.COST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1810512" y="20299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INDUSTRIAL COST OPTIMIZATION ASSISTANT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0352" y="26060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Today. </a:t>
            </a:r>
            <a:pPr indent="0" marL="0">
              <a:buNone/>
            </a:pPr>
            <a:r>
              <a:rPr lang="en-US" sz="2400" b="1" i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Tomorrow.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30352" y="312724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AI assistant that detects cost-relevant equipment anomalies, explains their root cause, quantifies the savings opportunity, recommends a corrective action, and tracks whether the saving was actually realized.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4160520"/>
            <a:ext cx="8869680" cy="2331720"/>
          </a:xfrm>
          <a:prstGeom prst="roundRect">
            <a:avLst>
              <a:gd name="adj" fmla="val 3137"/>
            </a:avLst>
          </a:prstGeom>
          <a:solidFill>
            <a:srgbClr val="0A2D57"/>
          </a:solidFill>
          <a:ln w="12700">
            <a:solidFill>
              <a:srgbClr val="1E4E8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41655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22960" y="46360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PS ID]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349240" y="441655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349240" y="46360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— AI-Powered Industrial Cost Optimization Assistant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2960" y="507492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822960" y="52943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Theme]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349240" y="507492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349240" y="52943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22960" y="573328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22960" y="595274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Team ID]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349240" y="573328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349240" y="595274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Team Name]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SIH 2026 Idea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— CLOSED-LOOP COST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700" dirty="0"/>
          </a:p>
        </p:txBody>
      </p:sp>
      <p:pic>
        <p:nvPicPr>
          <p:cNvPr id="6" name="Image 0" descr="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28016"/>
            <a:ext cx="713232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59975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471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 —  AI-Powered Industrial Cost Optimization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695" y="6547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Idea Title  |  02 / 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550468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225296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6B2A22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12252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" y="1664208"/>
            <a:ext cx="504748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costs (energy, material, downtime) are tracked in separate systems — ERP/Finance, MES/Production, IoT/Sensors, Maintenance/CMMS — reviewed on different cadences.</a:t>
            </a:r>
            <a:endParaRPr lang="en-US" sz="108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monitoring is reactive and threshold-based: it flags a reading but does not explain why it happened.</a:t>
            </a:r>
            <a:endParaRPr lang="en-US" sz="108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investigation today is manual and slow, depending on institutional memory rather than data.</a:t>
            </a:r>
            <a:endParaRPr lang="en-US" sz="108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are rarely tied to a quantified, trackable saving — and almost never followed up to confirm it was real.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053328" y="1042416"/>
            <a:ext cx="5779008" cy="2651760"/>
          </a:xfrm>
          <a:prstGeom prst="roundRect">
            <a:avLst>
              <a:gd name="adj" fmla="val 2414"/>
            </a:avLst>
          </a:prstGeom>
          <a:solidFill>
            <a:srgbClr val="04264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225296"/>
            <a:ext cx="3840480" cy="292608"/>
          </a:xfrm>
          <a:prstGeom prst="roundRect">
            <a:avLst>
              <a:gd name="adj" fmla="val 15625"/>
            </a:avLst>
          </a:prstGeom>
          <a:solidFill>
            <a:srgbClr val="16A18C"/>
          </a:solidFill>
          <a:ln/>
        </p:spPr>
      </p:sp>
      <p:sp>
        <p:nvSpPr>
          <p:cNvPr id="17" name="Text 14"/>
          <p:cNvSpPr/>
          <p:nvPr/>
        </p:nvSpPr>
        <p:spPr>
          <a:xfrm>
            <a:off x="6254496" y="1225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AURA.COST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09360" y="1664208"/>
            <a:ext cx="532180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continuously-running app that ingests machine telemetry, detects cost-relevant anomalies, and automatically explains their likely root cause.</a:t>
            </a:r>
            <a:endParaRPr lang="en-US" sz="108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explained anomaly gets a recommended action with a projected rupee saving — implementable in one click from the dashboard, root-cause page, What-If sandbox, or an AI chat assistant.</a:t>
            </a:r>
            <a:endParaRPr lang="en-US" sz="108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closes: implemented actions are tracked through a verification window and compared, projected vs. realised.</a:t>
            </a:r>
            <a:endParaRPr lang="en-US" sz="108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8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Gemini-powered Co-Pilot answers questions in plain language and can trigger the same Implement action — one source of truth with the dashboard.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36576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THE CLOSED LOOP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267435" y="4471416"/>
            <a:ext cx="9656826" cy="0"/>
          </a:xfrm>
          <a:prstGeom prst="line">
            <a:avLst/>
          </a:prstGeom>
          <a:noFill/>
          <a:ln w="25400">
            <a:solidFill>
              <a:srgbClr val="16A18C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983971" y="4187952"/>
            <a:ext cx="566928" cy="566928"/>
          </a:xfrm>
          <a:prstGeom prst="ellipse">
            <a:avLst/>
          </a:prstGeom>
          <a:solidFill>
            <a:srgbClr val="04264F"/>
          </a:solidFill>
          <a:ln w="22225">
            <a:solidFill>
              <a:srgbClr val="16A1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3971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65760" y="4828032"/>
            <a:ext cx="18033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5056632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anomaly scoring on streaming telemetry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2150821" y="4169664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915336" y="4187952"/>
            <a:ext cx="566928" cy="566928"/>
          </a:xfrm>
          <a:prstGeom prst="ellipse">
            <a:avLst/>
          </a:prstGeom>
          <a:solidFill>
            <a:srgbClr val="0B3A6B"/>
          </a:solidFill>
          <a:ln w="22225">
            <a:solidFill>
              <a:srgbClr val="16A1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15336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2297125" y="4828032"/>
            <a:ext cx="18033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342845" y="5056632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root-cause driver + confidence score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4082186" y="4169664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846701" y="4187952"/>
            <a:ext cx="566928" cy="566928"/>
          </a:xfrm>
          <a:prstGeom prst="ellipse">
            <a:avLst/>
          </a:prstGeom>
          <a:solidFill>
            <a:srgbClr val="04264F"/>
          </a:solidFill>
          <a:ln w="22225">
            <a:solidFill>
              <a:srgbClr val="16A18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701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4228490" y="4828032"/>
            <a:ext cx="18033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274210" y="5056632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 &amp; payback period</a:t>
            </a:r>
            <a:endParaRPr lang="en-US" sz="860" dirty="0"/>
          </a:p>
        </p:txBody>
      </p:sp>
      <p:sp>
        <p:nvSpPr>
          <p:cNvPr id="35" name="Text 32"/>
          <p:cNvSpPr/>
          <p:nvPr/>
        </p:nvSpPr>
        <p:spPr>
          <a:xfrm>
            <a:off x="6013552" y="4169664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778066" y="4187952"/>
            <a:ext cx="566928" cy="566928"/>
          </a:xfrm>
          <a:prstGeom prst="ellipse">
            <a:avLst/>
          </a:prstGeom>
          <a:solidFill>
            <a:srgbClr val="0B3A6B"/>
          </a:solidFill>
          <a:ln w="22225">
            <a:solidFill>
              <a:srgbClr val="16A1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78066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6159856" y="4828032"/>
            <a:ext cx="18033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205576" y="5056632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implementation from any surface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7944917" y="4169664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709431" y="4187952"/>
            <a:ext cx="566928" cy="566928"/>
          </a:xfrm>
          <a:prstGeom prst="ellipse">
            <a:avLst/>
          </a:prstGeom>
          <a:solidFill>
            <a:srgbClr val="04264F"/>
          </a:solidFill>
          <a:ln w="22225">
            <a:solidFill>
              <a:srgbClr val="16A18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709431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8091221" y="4828032"/>
            <a:ext cx="18033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136941" y="5056632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the Action Tracker</a:t>
            </a:r>
            <a:endParaRPr lang="en-US" sz="860" dirty="0"/>
          </a:p>
        </p:txBody>
      </p:sp>
      <p:sp>
        <p:nvSpPr>
          <p:cNvPr id="45" name="Text 42"/>
          <p:cNvSpPr/>
          <p:nvPr/>
        </p:nvSpPr>
        <p:spPr>
          <a:xfrm>
            <a:off x="9876282" y="4169664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0640797" y="4187952"/>
            <a:ext cx="566928" cy="566928"/>
          </a:xfrm>
          <a:prstGeom prst="ellipse">
            <a:avLst/>
          </a:prstGeom>
          <a:solidFill>
            <a:srgbClr val="0B3A6B"/>
          </a:solidFill>
          <a:ln w="22225">
            <a:solidFill>
              <a:srgbClr val="16A18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640797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48" name="Text 45"/>
          <p:cNvSpPr/>
          <p:nvPr/>
        </p:nvSpPr>
        <p:spPr>
          <a:xfrm>
            <a:off x="10022586" y="4828032"/>
            <a:ext cx="18033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068306" y="5056632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saving compared to projection</a:t>
            </a:r>
            <a:endParaRPr lang="en-US" sz="860" dirty="0"/>
          </a:p>
        </p:txBody>
      </p:sp>
      <p:sp>
        <p:nvSpPr>
          <p:cNvPr id="50" name="Shape 47"/>
          <p:cNvSpPr/>
          <p:nvPr/>
        </p:nvSpPr>
        <p:spPr>
          <a:xfrm>
            <a:off x="365760" y="5596128"/>
            <a:ext cx="2762174" cy="512064"/>
          </a:xfrm>
          <a:prstGeom prst="roundRect">
            <a:avLst>
              <a:gd name="adj" fmla="val 10714"/>
            </a:avLst>
          </a:prstGeom>
          <a:solidFill>
            <a:srgbClr val="E8F4F1"/>
          </a:solidFill>
          <a:ln w="12700">
            <a:solidFill>
              <a:srgbClr val="16A18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7200" y="5596128"/>
            <a:ext cx="257929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closed-loop — not just alerting</a:t>
            </a:r>
            <a:endParaRPr lang="en-US" sz="960" dirty="0"/>
          </a:p>
        </p:txBody>
      </p:sp>
      <p:sp>
        <p:nvSpPr>
          <p:cNvPr id="52" name="Shape 49"/>
          <p:cNvSpPr/>
          <p:nvPr/>
        </p:nvSpPr>
        <p:spPr>
          <a:xfrm>
            <a:off x="3265094" y="5596128"/>
            <a:ext cx="2762174" cy="512064"/>
          </a:xfrm>
          <a:prstGeom prst="roundRect">
            <a:avLst>
              <a:gd name="adj" fmla="val 10714"/>
            </a:avLst>
          </a:prstGeom>
          <a:solidFill>
            <a:srgbClr val="E8F4F1"/>
          </a:solidFill>
          <a:ln w="12700">
            <a:solidFill>
              <a:srgbClr val="16A18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356534" y="5596128"/>
            <a:ext cx="257929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dashboard share one source of truth</a:t>
            </a:r>
            <a:endParaRPr lang="en-US" sz="960" dirty="0"/>
          </a:p>
        </p:txBody>
      </p:sp>
      <p:sp>
        <p:nvSpPr>
          <p:cNvPr id="54" name="Shape 51"/>
          <p:cNvSpPr/>
          <p:nvPr/>
        </p:nvSpPr>
        <p:spPr>
          <a:xfrm>
            <a:off x="6164428" y="5596128"/>
            <a:ext cx="2762174" cy="512064"/>
          </a:xfrm>
          <a:prstGeom prst="roundRect">
            <a:avLst>
              <a:gd name="adj" fmla="val 10714"/>
            </a:avLst>
          </a:prstGeom>
          <a:solidFill>
            <a:srgbClr val="E8F4F1"/>
          </a:solidFill>
          <a:ln w="12700">
            <a:solidFill>
              <a:srgbClr val="16A18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55868" y="5596128"/>
            <a:ext cx="257929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carries a confidence score</a:t>
            </a:r>
            <a:endParaRPr lang="en-US" sz="960" dirty="0"/>
          </a:p>
        </p:txBody>
      </p:sp>
      <p:sp>
        <p:nvSpPr>
          <p:cNvPr id="56" name="Shape 53"/>
          <p:cNvSpPr/>
          <p:nvPr/>
        </p:nvSpPr>
        <p:spPr>
          <a:xfrm>
            <a:off x="9063761" y="5596128"/>
            <a:ext cx="2762174" cy="512064"/>
          </a:xfrm>
          <a:prstGeom prst="roundRect">
            <a:avLst>
              <a:gd name="adj" fmla="val 10714"/>
            </a:avLst>
          </a:prstGeom>
          <a:solidFill>
            <a:srgbClr val="E8F4F1"/>
          </a:solidFill>
          <a:ln w="12700">
            <a:solidFill>
              <a:srgbClr val="16A18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155201" y="5596128"/>
            <a:ext cx="257929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60" b="1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running cost — free &amp; open-source stack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— MOST IMPORTANT TECHNICAL SLIDE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700" dirty="0"/>
          </a:p>
        </p:txBody>
      </p:sp>
      <p:pic>
        <p:nvPicPr>
          <p:cNvPr id="6" name="Image 0" descr="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28016"/>
            <a:ext cx="713232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59975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471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 —  AI-Powered Industrial Cost Optimization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695" y="6547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Technical Approach  |  03 / 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078992"/>
            <a:ext cx="2782748" cy="512064"/>
          </a:xfrm>
          <a:prstGeom prst="roundRect">
            <a:avLst>
              <a:gd name="adj" fmla="val 10714"/>
            </a:avLst>
          </a:prstGeom>
          <a:solidFill>
            <a:srgbClr val="EAF0F5"/>
          </a:solidFill>
          <a:ln w="15875">
            <a:solidFill>
              <a:srgbClr val="0426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1078992"/>
            <a:ext cx="2673020" cy="2867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Finance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0624" y="1355507"/>
            <a:ext cx="2673020" cy="225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postings, purchase orders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3258236" y="1078992"/>
            <a:ext cx="2782748" cy="512064"/>
          </a:xfrm>
          <a:prstGeom prst="roundRect">
            <a:avLst>
              <a:gd name="adj" fmla="val 10714"/>
            </a:avLst>
          </a:prstGeom>
          <a:solidFill>
            <a:srgbClr val="EAF0F5"/>
          </a:solidFill>
          <a:ln w="15875">
            <a:solidFill>
              <a:srgbClr val="0426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3100" y="1078992"/>
            <a:ext cx="2673020" cy="2867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Production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13100" y="1355507"/>
            <a:ext cx="2673020" cy="225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output volumes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6150712" y="1078992"/>
            <a:ext cx="2782748" cy="512064"/>
          </a:xfrm>
          <a:prstGeom prst="roundRect">
            <a:avLst>
              <a:gd name="adj" fmla="val 10714"/>
            </a:avLst>
          </a:prstGeom>
          <a:solidFill>
            <a:srgbClr val="EAF0F5"/>
          </a:solidFill>
          <a:ln w="15875">
            <a:solidFill>
              <a:srgbClr val="0426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05576" y="1078992"/>
            <a:ext cx="2673020" cy="2867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Sensors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05576" y="1355507"/>
            <a:ext cx="2673020" cy="225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(energy, temp.)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9043187" y="1078992"/>
            <a:ext cx="2782748" cy="512064"/>
          </a:xfrm>
          <a:prstGeom prst="roundRect">
            <a:avLst>
              <a:gd name="adj" fmla="val 10714"/>
            </a:avLst>
          </a:prstGeom>
          <a:solidFill>
            <a:srgbClr val="EAF0F5"/>
          </a:solidFill>
          <a:ln w="15875">
            <a:solidFill>
              <a:srgbClr val="0426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98051" y="1078992"/>
            <a:ext cx="2673020" cy="2867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CMMS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98051" y="1355507"/>
            <a:ext cx="2673020" cy="225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event history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65760" y="1719072"/>
            <a:ext cx="11460175" cy="365760"/>
          </a:xfrm>
          <a:prstGeom prst="roundRect">
            <a:avLst>
              <a:gd name="adj" fmla="val 12500"/>
            </a:avLst>
          </a:prstGeom>
          <a:solidFill>
            <a:srgbClr val="04264F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17190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  →   UNIFIED INDUSTRIAL DATA MODEL   →   COST BASELINE  (Activity-Based Costing + 90-day rolling baseline)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2212848"/>
            <a:ext cx="11460175" cy="932688"/>
          </a:xfrm>
          <a:prstGeom prst="roundRect">
            <a:avLst>
              <a:gd name="adj" fmla="val 6863"/>
            </a:avLst>
          </a:prstGeom>
          <a:solidFill>
            <a:srgbClr val="0B3A6B"/>
          </a:solidFill>
          <a:ln w="15875">
            <a:solidFill>
              <a:srgbClr val="16A1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" y="2258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ANALYTICS ENGINE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0352" y="2542032"/>
            <a:ext cx="2700452" cy="530352"/>
          </a:xfrm>
          <a:prstGeom prst="roundRect">
            <a:avLst>
              <a:gd name="adj" fmla="val 8621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" y="2578608"/>
            <a:ext cx="25541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 Detection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603504" y="2852928"/>
            <a:ext cx="25541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4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z-score fallback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3340532" y="2542032"/>
            <a:ext cx="2700452" cy="530352"/>
          </a:xfrm>
          <a:prstGeom prst="roundRect">
            <a:avLst>
              <a:gd name="adj" fmla="val 8621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13684" y="2578608"/>
            <a:ext cx="25541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930" dirty="0"/>
          </a:p>
        </p:txBody>
      </p:sp>
      <p:sp>
        <p:nvSpPr>
          <p:cNvPr id="32" name="Text 29"/>
          <p:cNvSpPr/>
          <p:nvPr/>
        </p:nvSpPr>
        <p:spPr>
          <a:xfrm>
            <a:off x="3413684" y="2852928"/>
            <a:ext cx="25541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4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+ correlation, confidence score</a:t>
            </a:r>
            <a:endParaRPr lang="en-US" sz="740" dirty="0"/>
          </a:p>
        </p:txBody>
      </p:sp>
      <p:sp>
        <p:nvSpPr>
          <p:cNvPr id="33" name="Shape 30"/>
          <p:cNvSpPr/>
          <p:nvPr/>
        </p:nvSpPr>
        <p:spPr>
          <a:xfrm>
            <a:off x="6150712" y="2542032"/>
            <a:ext cx="2700452" cy="530352"/>
          </a:xfrm>
          <a:prstGeom prst="roundRect">
            <a:avLst>
              <a:gd name="adj" fmla="val 8621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23864" y="2578608"/>
            <a:ext cx="25541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Forecasting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6223864" y="2852928"/>
            <a:ext cx="25541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4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 (see Feasibility)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8960891" y="2542032"/>
            <a:ext cx="2700452" cy="530352"/>
          </a:xfrm>
          <a:prstGeom prst="roundRect">
            <a:avLst>
              <a:gd name="adj" fmla="val 8621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34043" y="2578608"/>
            <a:ext cx="25541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Optimization</a:t>
            </a:r>
            <a:endParaRPr lang="en-US" sz="930" dirty="0"/>
          </a:p>
        </p:txBody>
      </p:sp>
      <p:sp>
        <p:nvSpPr>
          <p:cNvPr id="38" name="Text 35"/>
          <p:cNvSpPr/>
          <p:nvPr/>
        </p:nvSpPr>
        <p:spPr>
          <a:xfrm>
            <a:off x="9034043" y="2852928"/>
            <a:ext cx="25541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4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0/1-knapsack LP, CBC solver</a:t>
            </a:r>
            <a:endParaRPr lang="en-US" sz="740" dirty="0"/>
          </a:p>
        </p:txBody>
      </p:sp>
      <p:sp>
        <p:nvSpPr>
          <p:cNvPr id="39" name="Shape 36"/>
          <p:cNvSpPr/>
          <p:nvPr/>
        </p:nvSpPr>
        <p:spPr>
          <a:xfrm>
            <a:off x="365760" y="3273552"/>
            <a:ext cx="11460175" cy="365760"/>
          </a:xfrm>
          <a:prstGeom prst="roundRect">
            <a:avLst>
              <a:gd name="adj" fmla="val 12500"/>
            </a:avLst>
          </a:prstGeom>
          <a:solidFill>
            <a:srgbClr val="04264F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327355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RECOMMENDATION   →   SAVINGS QUANTIFICATION (₹ projected + payback)   →   ONE-CLICK IMPLEMENTATION   →   SAVINGS TRACKING &amp; VERIFICATION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65760" y="3730752"/>
            <a:ext cx="11460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A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</a:t>
            </a:r>
            <a:pPr algn="ctr" indent="0" marL="0">
              <a:buNone/>
            </a:pPr>
            <a:r>
              <a:rPr lang="en-US" sz="96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— verified action outcomes (Action Tracker) feed back into cost baselines and the AI/ML analytics engine.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365760" y="411480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4264F"/>
          </a:solidFill>
          <a:ln/>
        </p:spPr>
      </p:sp>
      <p:sp>
        <p:nvSpPr>
          <p:cNvPr id="43" name="Text 40"/>
          <p:cNvSpPr/>
          <p:nvPr/>
        </p:nvSpPr>
        <p:spPr>
          <a:xfrm>
            <a:off x="365760" y="4114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(AS BUILT)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498848"/>
            <a:ext cx="27827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5760" y="4498848"/>
            <a:ext cx="2782748" cy="2743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46" name="Text 43"/>
          <p:cNvSpPr/>
          <p:nvPr/>
        </p:nvSpPr>
        <p:spPr>
          <a:xfrm>
            <a:off x="365760" y="4498848"/>
            <a:ext cx="2782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57200" y="4828032"/>
            <a:ext cx="25998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 + TypeScript, Vite 5.4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5.0 (state)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2.13 (charts)</a:t>
            </a:r>
            <a:endParaRPr lang="en-US" sz="840" dirty="0"/>
          </a:p>
        </p:txBody>
      </p:sp>
      <p:sp>
        <p:nvSpPr>
          <p:cNvPr id="48" name="Shape 45"/>
          <p:cNvSpPr/>
          <p:nvPr/>
        </p:nvSpPr>
        <p:spPr>
          <a:xfrm>
            <a:off x="3258236" y="4498848"/>
            <a:ext cx="27827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258236" y="4498848"/>
            <a:ext cx="2782748" cy="2743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50" name="Text 47"/>
          <p:cNvSpPr/>
          <p:nvPr/>
        </p:nvSpPr>
        <p:spPr>
          <a:xfrm>
            <a:off x="3258236" y="4498848"/>
            <a:ext cx="2782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3349676" y="4828032"/>
            <a:ext cx="25998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 (Python 3.11)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2.9 (validation)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6150712" y="4498848"/>
            <a:ext cx="27827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150712" y="4498848"/>
            <a:ext cx="2782748" cy="2743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54" name="Text 51"/>
          <p:cNvSpPr/>
          <p:nvPr/>
        </p:nvSpPr>
        <p:spPr>
          <a:xfrm>
            <a:off x="6150712" y="4498848"/>
            <a:ext cx="2782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OPTIMIZATION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242152" y="4828032"/>
            <a:ext cx="25998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Isolation Forest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2.9 (CBC solver)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gemini-2.5-flash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Co-Pilot + fallback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9043187" y="4498848"/>
            <a:ext cx="27827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43187" y="4498848"/>
            <a:ext cx="2782748" cy="2743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58" name="Text 55"/>
          <p:cNvSpPr/>
          <p:nvPr/>
        </p:nvSpPr>
        <p:spPr>
          <a:xfrm>
            <a:off x="9043187" y="4498848"/>
            <a:ext cx="2782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&amp; INFRA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9134627" y="4828032"/>
            <a:ext cx="25998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3.10 (30s tick)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WebSockets (/ws/live, /ws/chat)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PBKDF2-HMAC-SHA256 auth</a:t>
            </a:r>
            <a:endParaRPr lang="en-US" sz="840" dirty="0"/>
          </a:p>
          <a:p>
            <a:pPr marL="127000" indent="-127000">
              <a:lnSpc>
                <a:spcPts val="1050"/>
              </a:lnSpc>
              <a:spcAft>
                <a:spcPts val="400"/>
              </a:spcAft>
              <a:buSzPct val="100000"/>
              <a:buChar char="✦"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nginx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— PRACTICAL, ACHIEVABLE, HONEST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700" dirty="0"/>
          </a:p>
        </p:txBody>
      </p:sp>
      <p:pic>
        <p:nvPicPr>
          <p:cNvPr id="6" name="Image 0" descr="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28016"/>
            <a:ext cx="713232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59975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471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 —  AI-Powered Industrial Cost Optimization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695" y="6547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Feasibility and Viability  |  04 / 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2769032" cy="2084832"/>
          </a:xfrm>
          <a:prstGeom prst="roundRect">
            <a:avLst>
              <a:gd name="adj" fmla="val 3070"/>
            </a:avLst>
          </a:prstGeom>
          <a:solidFill>
            <a:srgbClr val="04264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" y="1170432"/>
            <a:ext cx="2476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12064" y="1664208"/>
            <a:ext cx="249471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closed loop (detect → explain → recommend → implement → verify) runs end-to-end today.</a:t>
            </a:r>
            <a:endParaRPr lang="en-US" sz="96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 real, running PostgreSQL database and real browser sessions — not a mock-up.</a:t>
            </a:r>
            <a:endParaRPr lang="en-US" sz="96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a proven, mainstream open-source stack.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3262808" y="1042416"/>
            <a:ext cx="2769032" cy="2084832"/>
          </a:xfrm>
          <a:prstGeom prst="roundRect">
            <a:avLst>
              <a:gd name="adj" fmla="val 3070"/>
            </a:avLst>
          </a:prstGeom>
          <a:solidFill>
            <a:srgbClr val="0B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3409112" y="1170432"/>
            <a:ext cx="2476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09112" y="1664208"/>
            <a:ext cx="249471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real plant, the missing pieces are a genuine telemetry connector and API-level authorization.</a:t>
            </a:r>
            <a:endParaRPr lang="en-US" sz="96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scoped, localized changes, not redesigns — the code already marks where a real connector plugs in.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159856" y="1042416"/>
            <a:ext cx="2769032" cy="2084832"/>
          </a:xfrm>
          <a:prstGeom prst="roundRect">
            <a:avLst>
              <a:gd name="adj" fmla="val 3070"/>
            </a:avLst>
          </a:prstGeom>
          <a:solidFill>
            <a:srgbClr val="0B4A3E"/>
          </a:solidFill>
          <a:ln/>
        </p:spPr>
      </p:sp>
      <p:sp>
        <p:nvSpPr>
          <p:cNvPr id="18" name="Text 15"/>
          <p:cNvSpPr/>
          <p:nvPr/>
        </p:nvSpPr>
        <p:spPr>
          <a:xfrm>
            <a:off x="6306160" y="1170432"/>
            <a:ext cx="2476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Viability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06160" y="1664208"/>
            <a:ext cx="249471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free/open-source or a free API tier — confirmed line-by-line across the stack.</a:t>
            </a:r>
            <a:endParaRPr lang="en-US" sz="96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running cost today; no paid cloud service is called anywhere in the current implementation.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9056903" y="1042416"/>
            <a:ext cx="2769032" cy="2084832"/>
          </a:xfrm>
          <a:prstGeom prst="roundRect">
            <a:avLst>
              <a:gd name="adj" fmla="val 3070"/>
            </a:avLst>
          </a:prstGeom>
          <a:solidFill>
            <a:srgbClr val="1B4D5E"/>
          </a:solidFill>
          <a:ln/>
        </p:spPr>
      </p:sp>
      <p:sp>
        <p:nvSpPr>
          <p:cNvPr id="21" name="Text 18"/>
          <p:cNvSpPr/>
          <p:nvPr/>
        </p:nvSpPr>
        <p:spPr>
          <a:xfrm>
            <a:off x="9203207" y="1170432"/>
            <a:ext cx="2476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203207" y="1664208"/>
            <a:ext cx="249471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design (single Postgres instance, in-process WebSocket manager) fits a single-plant prototype.</a:t>
            </a:r>
            <a:endParaRPr lang="en-US" sz="960" dirty="0"/>
          </a:p>
          <a:p>
            <a:pPr marL="127000" indent="-1270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multiple plants/users needs a pub/sub layer, persisted models, and connection-pooling review — already scoped as near-term work.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365760" y="3273552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04264F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32735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→  MITIGATION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3639312"/>
            <a:ext cx="1146017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79034" y="3694176"/>
            <a:ext cx="0" cy="310896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" y="3639312"/>
            <a:ext cx="463039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API-level authorization — every backend endpoint is reachable without credentials today.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5307050" y="3639312"/>
            <a:ext cx="64091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session/JWT-checked endpoints (a JWT_SECRET setting already exists, currently unused) before any real deployment.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365760" y="4105656"/>
            <a:ext cx="11460175" cy="420624"/>
          </a:xfrm>
          <a:prstGeom prst="roundRect">
            <a:avLst>
              <a:gd name="adj" fmla="val 10870"/>
            </a:avLst>
          </a:prstGeom>
          <a:solidFill>
            <a:srgbClr val="EAF0F5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79034" y="4160520"/>
            <a:ext cx="0" cy="310896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" y="4105656"/>
            <a:ext cx="463039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frontend pages (What-If, Reports) are not yet wired to the live backend.</a:t>
            </a:r>
            <a:endParaRPr lang="en-US" sz="860" dirty="0"/>
          </a:p>
        </p:txBody>
      </p:sp>
      <p:sp>
        <p:nvSpPr>
          <p:cNvPr id="32" name="Text 29"/>
          <p:cNvSpPr/>
          <p:nvPr/>
        </p:nvSpPr>
        <p:spPr>
          <a:xfrm>
            <a:off x="5307050" y="4105656"/>
            <a:ext cx="64091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What-If to the already-working, independently-verified api.runWhatIf(); add a backend aggregation endpoint for Reports.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365760" y="4572000"/>
            <a:ext cx="1146017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79034" y="4626864"/>
            <a:ext cx="0" cy="310896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" y="4572000"/>
            <a:ext cx="463039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savings-verification job — pending → verified is currently demo-seeded only.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5307050" y="4572000"/>
            <a:ext cx="64091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scheduled job that re-measures fct_cost / fct_sensor_reading after the verification window and closes the loop automatically.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365760" y="5038344"/>
            <a:ext cx="11460175" cy="420624"/>
          </a:xfrm>
          <a:prstGeom prst="roundRect">
            <a:avLst>
              <a:gd name="adj" fmla="val 10870"/>
            </a:avLst>
          </a:prstGeom>
          <a:solidFill>
            <a:srgbClr val="EAF0F5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79034" y="5093208"/>
            <a:ext cx="0" cy="310896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" y="5038344"/>
            <a:ext cx="463039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plant, two machines — the data model currently hard-depends on this scope.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5307050" y="5038344"/>
            <a:ext cx="64091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the machine-count assumptions in the join logic; extend the data model toward multi-plant support.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365760" y="5596128"/>
            <a:ext cx="11460175" cy="457200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 w="12700">
            <a:solidFill>
              <a:srgbClr val="B9720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3776" y="5596128"/>
            <a:ext cx="1120414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40" b="1" dirty="0">
                <a:solidFill>
                  <a:srgbClr val="B9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scope:  </a:t>
            </a:r>
            <a:pPr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locally against a real PostgreSQL database and browser sessions — 1 simulated plant, 2 machines, 36,920 sensor readings, 14 anomalies, 12 recommendations (5 implemented), over a 12-month seeded dataset. Not yet validated on real plant data or a production deployment.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— VALUE DELIVERED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700" dirty="0"/>
          </a:p>
        </p:txBody>
      </p:sp>
      <p:pic>
        <p:nvPicPr>
          <p:cNvPr id="6" name="Image 0" descr="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28016"/>
            <a:ext cx="713232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59975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471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 —  AI-Powered Industrial Cost Optimization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695" y="6547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Impact and Benefits  |  05 / 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5486400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11887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4264F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1188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" y="1591056"/>
            <a:ext cx="50749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150"/>
              </a:lnSpc>
              <a:spcAft>
                <a:spcPts val="4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cost visibility — one dashboard instead of a periodic report.</a:t>
            </a:r>
            <a:endParaRPr lang="en-US" sz="960" dirty="0"/>
          </a:p>
          <a:p>
            <a:pPr marL="177800" indent="-177800">
              <a:lnSpc>
                <a:spcPts val="1150"/>
              </a:lnSpc>
              <a:spcAft>
                <a:spcPts val="4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anomaly detection — every new reading scored in near real time (30s cadence).</a:t>
            </a:r>
            <a:endParaRPr lang="en-US" sz="960" dirty="0"/>
          </a:p>
          <a:p>
            <a:pPr marL="177800" indent="-177800">
              <a:lnSpc>
                <a:spcPts val="1150"/>
              </a:lnSpc>
              <a:spcAft>
                <a:spcPts val="4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root causes — ranked driver + confidence score, drill-down to the machine.</a:t>
            </a:r>
            <a:endParaRPr lang="en-US" sz="960" dirty="0"/>
          </a:p>
          <a:p>
            <a:pPr marL="177800" indent="-177800">
              <a:lnSpc>
                <a:spcPts val="1150"/>
              </a:lnSpc>
              <a:spcAft>
                <a:spcPts val="4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savings — every recommendation ships with a projected saving &amp; payback.</a:t>
            </a:r>
            <a:endParaRPr lang="en-US" sz="960" dirty="0"/>
          </a:p>
          <a:p>
            <a:pPr marL="177800" indent="-177800">
              <a:lnSpc>
                <a:spcPts val="1150"/>
              </a:lnSpc>
              <a:spcAft>
                <a:spcPts val="4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corrective action from the dashboard, root-cause page, What-If, or AI Co-Pilot.</a:t>
            </a:r>
            <a:endParaRPr lang="en-US" sz="960" dirty="0"/>
          </a:p>
          <a:p>
            <a:pPr marL="177800" indent="-177800">
              <a:lnSpc>
                <a:spcPts val="1150"/>
              </a:lnSpc>
              <a:spcAft>
                <a:spcPts val="4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verification — realised savings tracked against what was projected.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5980176" y="1042416"/>
            <a:ext cx="5845759" cy="1755648"/>
          </a:xfrm>
          <a:prstGeom prst="roundRect">
            <a:avLst>
              <a:gd name="adj" fmla="val 3646"/>
            </a:avLst>
          </a:prstGeom>
          <a:solidFill>
            <a:srgbClr val="04264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44768" y="11887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6A18C"/>
          </a:solidFill>
          <a:ln/>
        </p:spPr>
      </p:sp>
      <p:sp>
        <p:nvSpPr>
          <p:cNvPr id="17" name="Text 14"/>
          <p:cNvSpPr/>
          <p:nvPr/>
        </p:nvSpPr>
        <p:spPr>
          <a:xfrm>
            <a:off x="6144768" y="1188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44768" y="1591056"/>
            <a:ext cx="2694280" cy="470916"/>
          </a:xfrm>
          <a:prstGeom prst="roundRect">
            <a:avLst>
              <a:gd name="adj" fmla="val 9709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636776"/>
            <a:ext cx="251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Operations Managers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6236208" y="1901952"/>
            <a:ext cx="251140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7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live alert the moment a cost anomaly appears, with a likely cause already surfaced.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8967064" y="1591056"/>
            <a:ext cx="2694280" cy="470916"/>
          </a:xfrm>
          <a:prstGeom prst="roundRect">
            <a:avLst>
              <a:gd name="adj" fmla="val 9709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8504" y="1636776"/>
            <a:ext cx="251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Engineers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9058504" y="1901952"/>
            <a:ext cx="251140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7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automatically-ranked explanation instead of starting a manual investigation.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144768" y="2189988"/>
            <a:ext cx="2694280" cy="470916"/>
          </a:xfrm>
          <a:prstGeom prst="roundRect">
            <a:avLst>
              <a:gd name="adj" fmla="val 9709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36208" y="2235708"/>
            <a:ext cx="251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Cost Analysts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6236208" y="2500884"/>
            <a:ext cx="251140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7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Action Tracker to see which past fixes actually delivered their projected savings.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8967064" y="2189988"/>
            <a:ext cx="2694280" cy="470916"/>
          </a:xfrm>
          <a:prstGeom prst="roundRect">
            <a:avLst>
              <a:gd name="adj" fmla="val 9709"/>
            </a:avLst>
          </a:prstGeom>
          <a:solidFill>
            <a:srgbClr val="0E3055"/>
          </a:solidFill>
          <a:ln w="9525">
            <a:solidFill>
              <a:srgbClr val="2C66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58504" y="2235708"/>
            <a:ext cx="251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/ Leadership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9058504" y="2500884"/>
            <a:ext cx="2511400" cy="105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7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Co-Pilot a plain-language question, backed by the same live dashboard numbers.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365760" y="2962656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04264F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29626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AURA.COST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3346704"/>
            <a:ext cx="2750442" cy="292608"/>
          </a:xfrm>
          <a:prstGeom prst="rect">
            <a:avLst/>
          </a:prstGeom>
          <a:solidFill>
            <a:srgbClr val="04264F"/>
          </a:solidFill>
          <a:ln w="6350">
            <a:solidFill>
              <a:srgbClr val="F3F6F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8912" y="3346704"/>
            <a:ext cx="26041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116202" y="3346704"/>
            <a:ext cx="4584070" cy="292608"/>
          </a:xfrm>
          <a:prstGeom prst="rect">
            <a:avLst/>
          </a:prstGeom>
          <a:solidFill>
            <a:srgbClr val="04264F"/>
          </a:solidFill>
          <a:ln w="6350">
            <a:solidFill>
              <a:srgbClr val="F3F6F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89354" y="3346704"/>
            <a:ext cx="44377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/ Status Quo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700272" y="3346704"/>
            <a:ext cx="4125663" cy="292608"/>
          </a:xfrm>
          <a:prstGeom prst="rect">
            <a:avLst/>
          </a:prstGeom>
          <a:solidFill>
            <a:srgbClr val="04264F"/>
          </a:solidFill>
          <a:ln w="6350">
            <a:solidFill>
              <a:srgbClr val="F3F6F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3424" y="3346704"/>
            <a:ext cx="39793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65760" y="3639312"/>
            <a:ext cx="275044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8912" y="3639312"/>
            <a:ext cx="2604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3116202" y="3639312"/>
            <a:ext cx="458407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89354" y="3639312"/>
            <a:ext cx="44377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(weekly/monthly) reporting, reconciled after the fact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7700272" y="3639312"/>
            <a:ext cx="4125663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73424" y="3639312"/>
            <a:ext cx="3979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near real-time (30-second telemetry ticks)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365760" y="3950208"/>
            <a:ext cx="2750442" cy="310896"/>
          </a:xfrm>
          <a:prstGeom prst="rect">
            <a:avLst/>
          </a:prstGeom>
          <a:solidFill>
            <a:srgbClr val="EAF0F5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8912" y="3950208"/>
            <a:ext cx="2604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3116202" y="3950208"/>
            <a:ext cx="4584070" cy="310896"/>
          </a:xfrm>
          <a:prstGeom prst="rect">
            <a:avLst/>
          </a:prstGeom>
          <a:solidFill>
            <a:srgbClr val="EAF0F5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89354" y="3950208"/>
            <a:ext cx="44377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across ERP / MES / IoT / CMMS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7700272" y="3950208"/>
            <a:ext cx="4125663" cy="310896"/>
          </a:xfrm>
          <a:prstGeom prst="rect">
            <a:avLst/>
          </a:prstGeom>
          <a:solidFill>
            <a:srgbClr val="EAF0F5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773424" y="3950208"/>
            <a:ext cx="3979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industrial data model across all sources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365760" y="4261104"/>
            <a:ext cx="275044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38912" y="4261104"/>
            <a:ext cx="2604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3116202" y="4261104"/>
            <a:ext cx="458407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189354" y="4261104"/>
            <a:ext cx="44377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investigation, institutional memory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7700272" y="4261104"/>
            <a:ext cx="4125663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773424" y="4261104"/>
            <a:ext cx="3979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ranked driver + confidence score</a:t>
            </a:r>
            <a:endParaRPr lang="en-US" sz="820" dirty="0"/>
          </a:p>
        </p:txBody>
      </p:sp>
      <p:sp>
        <p:nvSpPr>
          <p:cNvPr id="56" name="Shape 53"/>
          <p:cNvSpPr/>
          <p:nvPr/>
        </p:nvSpPr>
        <p:spPr>
          <a:xfrm>
            <a:off x="365760" y="4572000"/>
            <a:ext cx="2750442" cy="310896"/>
          </a:xfrm>
          <a:prstGeom prst="rect">
            <a:avLst/>
          </a:prstGeom>
          <a:solidFill>
            <a:srgbClr val="EAF0F5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38912" y="4572000"/>
            <a:ext cx="2604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20" dirty="0"/>
          </a:p>
        </p:txBody>
      </p:sp>
      <p:sp>
        <p:nvSpPr>
          <p:cNvPr id="58" name="Shape 55"/>
          <p:cNvSpPr/>
          <p:nvPr/>
        </p:nvSpPr>
        <p:spPr>
          <a:xfrm>
            <a:off x="3116202" y="4572000"/>
            <a:ext cx="4584070" cy="310896"/>
          </a:xfrm>
          <a:prstGeom prst="rect">
            <a:avLst/>
          </a:prstGeom>
          <a:solidFill>
            <a:srgbClr val="EAF0F5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189354" y="4572000"/>
            <a:ext cx="44377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Ad-hoc, rarely quantified</a:t>
            </a:r>
            <a:endParaRPr lang="en-US" sz="820" dirty="0"/>
          </a:p>
        </p:txBody>
      </p:sp>
      <p:sp>
        <p:nvSpPr>
          <p:cNvPr id="60" name="Shape 57"/>
          <p:cNvSpPr/>
          <p:nvPr/>
        </p:nvSpPr>
        <p:spPr>
          <a:xfrm>
            <a:off x="7700272" y="4572000"/>
            <a:ext cx="4125663" cy="310896"/>
          </a:xfrm>
          <a:prstGeom prst="rect">
            <a:avLst/>
          </a:prstGeom>
          <a:solidFill>
            <a:srgbClr val="EAF0F5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773424" y="4572000"/>
            <a:ext cx="3979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action, projected saving &amp; payback, one click</a:t>
            </a:r>
            <a:endParaRPr lang="en-US" sz="820" dirty="0"/>
          </a:p>
        </p:txBody>
      </p:sp>
      <p:sp>
        <p:nvSpPr>
          <p:cNvPr id="62" name="Shape 59"/>
          <p:cNvSpPr/>
          <p:nvPr/>
        </p:nvSpPr>
        <p:spPr>
          <a:xfrm>
            <a:off x="365760" y="4882896"/>
            <a:ext cx="275044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8912" y="4882896"/>
            <a:ext cx="2604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3116202" y="4882896"/>
            <a:ext cx="458407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189354" y="4882896"/>
            <a:ext cx="44377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followed up</a:t>
            </a:r>
            <a:endParaRPr lang="en-US" sz="820" dirty="0"/>
          </a:p>
        </p:txBody>
      </p:sp>
      <p:sp>
        <p:nvSpPr>
          <p:cNvPr id="66" name="Shape 63"/>
          <p:cNvSpPr/>
          <p:nvPr/>
        </p:nvSpPr>
        <p:spPr>
          <a:xfrm>
            <a:off x="7700272" y="4882896"/>
            <a:ext cx="4125663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773424" y="4882896"/>
            <a:ext cx="39793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40"/>
              </a:lnSpc>
              <a:buNone/>
            </a:pPr>
            <a:r>
              <a:rPr lang="en-US" sz="820" dirty="0">
                <a:solidFill>
                  <a:srgbClr val="0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— tracked, projected vs. realised</a:t>
            </a:r>
            <a:endParaRPr lang="en-US" sz="820" dirty="0"/>
          </a:p>
        </p:txBody>
      </p:sp>
      <p:sp>
        <p:nvSpPr>
          <p:cNvPr id="68" name="Shape 65"/>
          <p:cNvSpPr/>
          <p:nvPr/>
        </p:nvSpPr>
        <p:spPr>
          <a:xfrm>
            <a:off x="365760" y="5340096"/>
            <a:ext cx="11460175" cy="960120"/>
          </a:xfrm>
          <a:prstGeom prst="roundRect">
            <a:avLst>
              <a:gd name="adj" fmla="val 5714"/>
            </a:avLst>
          </a:prstGeom>
          <a:solidFill>
            <a:srgbClr val="0B2D57"/>
          </a:solidFill>
          <a:ln w="12700">
            <a:solidFill>
              <a:srgbClr val="16A18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12064" y="5413248"/>
            <a:ext cx="111675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spc="6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SYSTEM OUTPUT — an actual recommendation record generated by the prototype</a:t>
            </a:r>
            <a:endParaRPr lang="en-US" sz="860" dirty="0"/>
          </a:p>
        </p:txBody>
      </p:sp>
      <p:sp>
        <p:nvSpPr>
          <p:cNvPr id="70" name="Text 67"/>
          <p:cNvSpPr/>
          <p:nvPr/>
        </p:nvSpPr>
        <p:spPr>
          <a:xfrm>
            <a:off x="512064" y="5669280"/>
            <a:ext cx="17881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512064" y="5852160"/>
            <a:ext cx="17881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Extruder 3A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2373325" y="5669280"/>
            <a:ext cx="17881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2373325" y="5852160"/>
            <a:ext cx="17881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cooling jacket circulation pump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4234586" y="5669280"/>
            <a:ext cx="17881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4234586" y="5852160"/>
            <a:ext cx="17881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₹1,76,000</a:t>
            </a:r>
            <a:endParaRPr lang="en-US" sz="1250" dirty="0"/>
          </a:p>
        </p:txBody>
      </p:sp>
      <p:sp>
        <p:nvSpPr>
          <p:cNvPr id="76" name="Text 73"/>
          <p:cNvSpPr/>
          <p:nvPr/>
        </p:nvSpPr>
        <p:spPr>
          <a:xfrm>
            <a:off x="6095848" y="5669280"/>
            <a:ext cx="17881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COST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6095848" y="5852160"/>
            <a:ext cx="17881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1250" dirty="0"/>
          </a:p>
        </p:txBody>
      </p:sp>
      <p:sp>
        <p:nvSpPr>
          <p:cNvPr id="78" name="Text 75"/>
          <p:cNvSpPr/>
          <p:nvPr/>
        </p:nvSpPr>
        <p:spPr>
          <a:xfrm>
            <a:off x="7957109" y="5669280"/>
            <a:ext cx="17881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7957109" y="5852160"/>
            <a:ext cx="17881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250" dirty="0"/>
          </a:p>
        </p:txBody>
      </p:sp>
      <p:sp>
        <p:nvSpPr>
          <p:cNvPr id="80" name="Text 77"/>
          <p:cNvSpPr/>
          <p:nvPr/>
        </p:nvSpPr>
        <p:spPr>
          <a:xfrm>
            <a:off x="9818370" y="5669280"/>
            <a:ext cx="17881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9818370" y="5852160"/>
            <a:ext cx="17881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250" dirty="0"/>
          </a:p>
        </p:txBody>
      </p:sp>
      <p:sp>
        <p:nvSpPr>
          <p:cNvPr id="82" name="Text 79"/>
          <p:cNvSpPr/>
          <p:nvPr/>
        </p:nvSpPr>
        <p:spPr>
          <a:xfrm>
            <a:off x="365760" y="6327648"/>
            <a:ext cx="11460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above are a real sample output of the working system — not a claim of verified real-plant results (see Feasibility &amp; Viability).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16A1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— GROUNDED IN THE PROJECT'S OWN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AND  REFERENCES</a:t>
            </a:r>
            <a:endParaRPr lang="en-US" sz="2700" dirty="0"/>
          </a:p>
        </p:txBody>
      </p:sp>
      <p:pic>
        <p:nvPicPr>
          <p:cNvPr id="6" name="Image 0" descr="assets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28016"/>
            <a:ext cx="713232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59975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4264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471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AURA.COST  —  AI-Powered Industrial Cost Optimization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19695" y="6547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|  Research and References  |  06 / 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58064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1188720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3A4A55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11887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LANDSCAPE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" y="1591056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industry practice: cost variance is typically reviewed on a periodic (weekly/monthly) cadence — spreadsheets or a BI dashboard reconciled after the fact against ERP postings.</a:t>
            </a:r>
            <a:endParaRPr lang="en-US" sz="960" dirty="0"/>
          </a:p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Condition-monitoring / predictive-maintenance tools, as a general product category, typically focus on equipment health and failure prediction — not on translating an anomaly directly into a cost figure and a trackable action.</a:t>
            </a:r>
            <a:endParaRPr lang="en-US" sz="960" dirty="0"/>
          </a:p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the disconnect between real-time operational telemetry and financial cost visibility, and the absence of a closed verification loop on recommended actions.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585216" y="3081528"/>
            <a:ext cx="5367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vendor-specific competitive audit was performed for this prototype — this section reflects the general, commonly understood landscape only.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365760" y="3520440"/>
            <a:ext cx="5806440" cy="2395728"/>
          </a:xfrm>
          <a:prstGeom prst="roundRect">
            <a:avLst>
              <a:gd name="adj" fmla="val 2672"/>
            </a:avLst>
          </a:prstGeom>
          <a:solidFill>
            <a:srgbClr val="04264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" y="366674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16A18C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" y="36667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4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AURA.COST IS DIFFERENT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" y="4069080"/>
            <a:ext cx="539496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4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closed-loop, not just alerting — carries an anomaly through explanation, a quantified action, one-click implementation from four UI surfaces, and a tracked verification record.</a:t>
            </a:r>
            <a:endParaRPr lang="en-US" sz="940" dirty="0"/>
          </a:p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4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dashboard share one source of truth — the AI Co-Pilot's tools call the exact same backend functions as the REST API, so they can never structurally disagree.</a:t>
            </a:r>
            <a:endParaRPr lang="en-US" sz="940" dirty="0"/>
          </a:p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4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running cost — every layer is free/open-source or a free tier, and the app degrades gracefully (not to a broken state) without a Gemini key.</a:t>
            </a:r>
            <a:endParaRPr lang="en-US" sz="940" dirty="0"/>
          </a:p>
          <a:p>
            <a:pPr marL="177800" indent="-177800">
              <a:lnSpc>
                <a:spcPts val="1200"/>
              </a:lnSpc>
              <a:spcAft>
                <a:spcPts val="600"/>
              </a:spcAft>
              <a:buSzPct val="100000"/>
              <a:buChar char="✦"/>
            </a:pPr>
            <a:r>
              <a:rPr lang="en-US" sz="94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architecture — genuine general-purpose techniques (the PuLP linear program, PBKDF2 hashing) are explicitly distinguished from illustrative heuristics standing in for a fuller build.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6318504" y="1042416"/>
            <a:ext cx="5507431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83096" y="118872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0426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83096" y="1188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EVIDENCE</a:t>
            </a:r>
            <a:endParaRPr lang="en-US" sz="1100" dirty="0"/>
          </a:p>
        </p:txBody>
      </p:sp>
      <p:pic>
        <p:nvPicPr>
          <p:cNvPr id="23" name="Image 1" descr="assets/login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38544" y="1572768"/>
            <a:ext cx="4867351" cy="23317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01384" y="3904488"/>
            <a:ext cx="51416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6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login screen of the working AURA.COST prototype — real product logo, tagline, and module list (Anomalies, Root Cause, What-If, Co-Pilot, Actions, Reports).</a:t>
            </a:r>
            <a:endParaRPr lang="en-US" sz="760" dirty="0"/>
          </a:p>
        </p:txBody>
      </p:sp>
      <p:sp>
        <p:nvSpPr>
          <p:cNvPr id="25" name="Shape 21"/>
          <p:cNvSpPr/>
          <p:nvPr/>
        </p:nvSpPr>
        <p:spPr>
          <a:xfrm>
            <a:off x="6318504" y="4434840"/>
            <a:ext cx="5507431" cy="2011680"/>
          </a:xfrm>
          <a:prstGeom prst="roundRect">
            <a:avLst>
              <a:gd name="adj" fmla="val 3182"/>
            </a:avLst>
          </a:prstGeom>
          <a:solidFill>
            <a:srgbClr val="EAF0F5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83096" y="4581144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4264F"/>
          </a:solidFill>
          <a:ln/>
        </p:spPr>
      </p:sp>
      <p:sp>
        <p:nvSpPr>
          <p:cNvPr id="27" name="Text 23"/>
          <p:cNvSpPr/>
          <p:nvPr/>
        </p:nvSpPr>
        <p:spPr>
          <a:xfrm>
            <a:off x="6483096" y="45811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19672" y="4946904"/>
            <a:ext cx="514167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100"/>
              </a:lnSpc>
              <a:spcAft>
                <a:spcPts val="500"/>
              </a:spcAft>
              <a:buSzPct val="100000"/>
              <a:buChar char="✦"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fastapi.tiangolo.com</a:t>
            </a:r>
            <a:endParaRPr lang="en-US" sz="860" dirty="0"/>
          </a:p>
          <a:p>
            <a:pPr marL="127000" indent="-127000">
              <a:lnSpc>
                <a:spcPts val="1100"/>
              </a:lnSpc>
              <a:spcAft>
                <a:spcPts val="500"/>
              </a:spcAft>
              <a:buSzPct val="100000"/>
              <a:buChar char="✦"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react.dev</a:t>
            </a:r>
            <a:endParaRPr lang="en-US" sz="860" dirty="0"/>
          </a:p>
          <a:p>
            <a:pPr marL="127000" indent="-127000">
              <a:lnSpc>
                <a:spcPts val="1100"/>
              </a:lnSpc>
              <a:spcAft>
                <a:spcPts val="500"/>
              </a:spcAft>
              <a:buSzPct val="100000"/>
              <a:buChar char="✦"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postgresql.org/docs</a:t>
            </a:r>
            <a:endParaRPr lang="en-US" sz="860" dirty="0"/>
          </a:p>
          <a:p>
            <a:pPr marL="127000" indent="-127000">
              <a:lnSpc>
                <a:spcPts val="1100"/>
              </a:lnSpc>
              <a:spcAft>
                <a:spcPts val="500"/>
              </a:spcAft>
              <a:buSzPct val="100000"/>
              <a:buChar char="✦"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(Isolation Forest) — scikit-learn.org</a:t>
            </a:r>
            <a:endParaRPr lang="en-US" sz="860" dirty="0"/>
          </a:p>
          <a:p>
            <a:pPr marL="127000" indent="-127000">
              <a:lnSpc>
                <a:spcPts val="1100"/>
              </a:lnSpc>
              <a:spcAft>
                <a:spcPts val="500"/>
              </a:spcAft>
              <a:buSzPct val="100000"/>
              <a:buChar char="✦"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— coin-or.github.io/pulp</a:t>
            </a:r>
            <a:endParaRPr lang="en-US" sz="860" dirty="0"/>
          </a:p>
          <a:p>
            <a:pPr marL="127000" indent="-127000">
              <a:lnSpc>
                <a:spcPts val="1100"/>
              </a:lnSpc>
              <a:spcAft>
                <a:spcPts val="500"/>
              </a:spcAft>
              <a:buSzPct val="100000"/>
              <a:buChar char="✦"/>
            </a:pPr>
            <a:r>
              <a:rPr lang="en-US" sz="86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— ai.google.dev/gemini-api/docs</a:t>
            </a:r>
            <a:endParaRPr lang="en-US" sz="860" dirty="0"/>
          </a:p>
        </p:txBody>
      </p:sp>
      <p:sp>
        <p:nvSpPr>
          <p:cNvPr id="29" name="Text 25"/>
          <p:cNvSpPr/>
          <p:nvPr/>
        </p:nvSpPr>
        <p:spPr>
          <a:xfrm>
            <a:off x="6519672" y="6153912"/>
            <a:ext cx="5105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sources actually applicable to this project are listed — no fabricated citations or market studies.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2026-09-03T14:58:50Z</dcterms:created>
  <dcterms:modified xsi:type="dcterms:W3CDTF">2026-09-03T14:58:50Z</dcterms:modified>
</cp:coreProperties>
</file>